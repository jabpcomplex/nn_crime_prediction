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PT Sans Narrow"/>
      <p:regular r:id="rId22"/>
      <p:bold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PTSansNarrow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OpenSans-regular.fntdata"/><Relationship Id="rId23" Type="http://schemas.openxmlformats.org/officeDocument/2006/relationships/font" Target="fonts/PTSansNarrow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fb86f8c1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fb86f8c1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4fb86f8c15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4fb86f8c15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fb86f8c1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fb86f8c1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fb86f8c1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fb86f8c1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fb86f8c1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fb86f8c1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ea724e0c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ea724e0c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ea724e0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ea724e0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ea724e0c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ea724e0c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ea724e0c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ea724e0c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ea724e0c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ea724e0c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bb99c0a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6bb99c0a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934200" y="1503162"/>
            <a:ext cx="7275600" cy="21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Predicción de Hotspots criminales en </a:t>
            </a:r>
            <a:r>
              <a:rPr lang="es-419"/>
              <a:t>Perímetro</a:t>
            </a:r>
            <a:r>
              <a:rPr lang="es-419"/>
              <a:t> A y B de la CDMX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 es el </a:t>
            </a:r>
            <a:r>
              <a:rPr lang="es-419"/>
              <a:t>Perímetro</a:t>
            </a:r>
            <a:r>
              <a:rPr lang="es-419"/>
              <a:t> A y B de la CDMX?</a:t>
            </a:r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9174" y="1228899"/>
            <a:ext cx="5107999" cy="34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2186350" y="2099875"/>
            <a:ext cx="8886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Cuauhtémoc</a:t>
            </a:r>
            <a:endParaRPr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6428425" y="3652175"/>
            <a:ext cx="7629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Venustiano Carranza</a:t>
            </a:r>
            <a:endParaRPr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4297050" y="2787075"/>
            <a:ext cx="10509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Colonias o  Mza</a:t>
            </a:r>
            <a:endParaRPr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Herramientas computacionales para la predicción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266325"/>
            <a:ext cx="8521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s-419"/>
              <a:t>Redes Neuronales </a:t>
            </a:r>
            <a:r>
              <a:rPr lang="es-419"/>
              <a:t>Convolucionales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s-419"/>
              <a:t>Redes LSTM (</a:t>
            </a:r>
            <a:r>
              <a:rPr lang="es-419"/>
              <a:t>Redes Neuronales Recurrentes)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s-419"/>
              <a:t>Bosques Aleatorios (Random Forest)</a:t>
            </a:r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388" y="2571738"/>
            <a:ext cx="3705225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880875" y="3775050"/>
            <a:ext cx="22728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Datos históricos de Crimen (2018-2023)</a:t>
            </a:r>
            <a:endParaRPr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3372" y="1266325"/>
            <a:ext cx="2898925" cy="21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6204588" y="3563625"/>
            <a:ext cx="2356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Datos Sociodemográfico (INEGI) y DENUE (POI) desagregado a nivel de  </a:t>
            </a:r>
            <a:r>
              <a:rPr lang="es-419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COLONIAS</a:t>
            </a:r>
            <a:endParaRPr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3965" y="2507458"/>
            <a:ext cx="1902531" cy="12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4335875" y="3853450"/>
            <a:ext cx="10587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Cámaras del C5</a:t>
            </a:r>
            <a:endParaRPr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1388400" y="4333075"/>
            <a:ext cx="7172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rgbClr val="2525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Estos insumos se usaran como covariables del modelo de predicción.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Criminología ambiental</a:t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Teorías</a:t>
            </a:r>
            <a:r>
              <a:rPr lang="es-419"/>
              <a:t> criminológicas que proporcionan una </a:t>
            </a:r>
            <a:r>
              <a:rPr lang="es-419"/>
              <a:t>comprensión</a:t>
            </a:r>
            <a:r>
              <a:rPr lang="es-419"/>
              <a:t> la </a:t>
            </a:r>
            <a:r>
              <a:rPr lang="es-419"/>
              <a:t>influencia</a:t>
            </a:r>
            <a:r>
              <a:rPr lang="es-419"/>
              <a:t> de los factores de localización en la </a:t>
            </a:r>
            <a:r>
              <a:rPr lang="es-419"/>
              <a:t>formación</a:t>
            </a:r>
            <a:r>
              <a:rPr lang="es-419"/>
              <a:t> de puntos delictivos: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Teoría</a:t>
            </a:r>
            <a:r>
              <a:rPr lang="es-419"/>
              <a:t> de las actividades Rutinarias [1]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Teoría</a:t>
            </a:r>
            <a:r>
              <a:rPr lang="es-419"/>
              <a:t> de la elección racional [2]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Teoría</a:t>
            </a:r>
            <a:r>
              <a:rPr lang="es-419"/>
              <a:t> de los patrones delictivos [3]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En resumen los factores ambientales deben considerarse además de los datos históricos sobre </a:t>
            </a:r>
            <a:r>
              <a:rPr lang="es-419"/>
              <a:t>delincuencia</a:t>
            </a:r>
            <a:r>
              <a:rPr lang="es-419"/>
              <a:t> para la predicción de focos </a:t>
            </a:r>
            <a:r>
              <a:rPr lang="es-419"/>
              <a:t>criminales.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Distribución de POI en área de estudio</a:t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2050" y="1808850"/>
            <a:ext cx="2173200" cy="181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5005725" y="4422925"/>
            <a:ext cx="8886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Manzanas</a:t>
            </a:r>
            <a:endParaRPr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2" name="Google Shape;10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100" y="1337938"/>
            <a:ext cx="4700925" cy="3084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Metodología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Definir la unidad tiempo (2 semanas) y periodo (1 de enero a 1 de Julio del 2018) [X. Zhang et al.]</a:t>
            </a:r>
            <a:endParaRPr/>
          </a:p>
          <a:p>
            <a:pPr indent="-32575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 Se utilizan como datos de entrenamiento el periodo definido para los años definidos y el último año es el periodo objetivo de predicción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En primer lugar se utilizan los datos históricos de crimen como input para calibrar los modelos.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Se añaden las covariables ambientales para intentar mejorar aún más la precisión de la predicción.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Análisis de tendencias estacionales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Determinar las hotspots criminales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Usar una </a:t>
            </a:r>
            <a:r>
              <a:rPr lang="es-419"/>
              <a:t>métrica</a:t>
            </a:r>
            <a:r>
              <a:rPr lang="es-419"/>
              <a:t> para validar que tan buena fue la predicción.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Resultados de la predicción</a:t>
            </a:r>
            <a:br>
              <a:rPr lang="es-419"/>
            </a:b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Entrenamiento</a:t>
            </a:r>
            <a:r>
              <a:rPr lang="es-419"/>
              <a:t> de las redes neuronales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1700" y="11139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Entrenamos las redes neuronales  LSTM y LSTMConv </a:t>
            </a:r>
            <a:r>
              <a:rPr lang="es-419"/>
              <a:t>únicamente</a:t>
            </a:r>
            <a:r>
              <a:rPr lang="es-419"/>
              <a:t> usando los datos </a:t>
            </a:r>
            <a:r>
              <a:rPr lang="es-419"/>
              <a:t>históricos</a:t>
            </a:r>
            <a:r>
              <a:rPr lang="es-419"/>
              <a:t> de incidencia delictiva para el periodo de tiempo de 2018-2023. El objetivo de predicción es el año 2024</a:t>
            </a:r>
            <a:endParaRPr/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1325" y="2217875"/>
            <a:ext cx="1904450" cy="23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3810" y="2217875"/>
            <a:ext cx="1767141" cy="23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1711250" y="4608725"/>
            <a:ext cx="293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Clasificación por incidente</a:t>
            </a:r>
            <a:endParaRPr sz="800"/>
          </a:p>
        </p:txBody>
      </p:sp>
      <p:sp>
        <p:nvSpPr>
          <p:cNvPr id="118" name="Google Shape;118;p19"/>
          <p:cNvSpPr txBox="1"/>
          <p:nvPr/>
        </p:nvSpPr>
        <p:spPr>
          <a:xfrm>
            <a:off x="4955450" y="4608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Clasificación tipo de entrada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350" y="2592875"/>
            <a:ext cx="3789725" cy="2359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Red LSTMConv</a:t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311700" y="11524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Generamos los mapas de calor para obtener los raster de los 12 meses de los 5 años del periodo analizado (2018-2023) en el centro histórico de la CDMX. Que servirán como insumos (input) para entrenar la red LstmConv. Por lo tanto tendremos 72 rasters.</a:t>
            </a:r>
            <a:endParaRPr/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2" y="2592875"/>
            <a:ext cx="3834673" cy="235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Red LSTMConv</a:t>
            </a:r>
            <a:endParaRPr/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225" y="1152425"/>
            <a:ext cx="4308800" cy="184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997575"/>
            <a:ext cx="4294229" cy="184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9129" y="593975"/>
            <a:ext cx="4196170" cy="184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9125" y="2571750"/>
            <a:ext cx="4137176" cy="2170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7850" y="346200"/>
            <a:ext cx="2464325" cy="19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Red LSTM serie y entrenamiento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Serie de Tiempo de la incidencia de delitos en el </a:t>
            </a:r>
            <a:r>
              <a:rPr lang="es-419"/>
              <a:t>perímetro</a:t>
            </a:r>
            <a:r>
              <a:rPr lang="es-419"/>
              <a:t> A y B de la CDMX</a:t>
            </a:r>
            <a:endParaRPr/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975" y="1785400"/>
            <a:ext cx="4226025" cy="254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0625" y="2658275"/>
            <a:ext cx="2371550" cy="187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Predicciones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Predicciones de 2024 comienzan en '2023-12-27 00:00:00'</a:t>
            </a:r>
            <a:endParaRPr/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1575" y="1756500"/>
            <a:ext cx="5943076" cy="31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esta semana trabajo lo que sigue que sería como cuantificar que tan buena es la prediccion,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2. agregar covariables (POIs) para volver a entrenar la red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3 cuantificar la predicción agregando las covariables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4. comparar predicciones.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o aunque sea al punto 2.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